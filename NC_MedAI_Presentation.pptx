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89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2545"/>
                </a:solidFill>
                <a:latin typeface="Arial"/>
              </a:rPr>
              <a:t>Sample count per class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distribution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F0-45E6-9959-90001AC576FA}"/>
              </c:ext>
            </c:extLst>
          </c:dPt>
          <c:dPt>
            <c:idx val="1"/>
            <c:invertIfNegative val="0"/>
            <c:bubble3D val="0"/>
            <c:spPr>
              <a:solidFill>
                <a:srgbClr val="E05C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F0-45E6-9959-90001AC576FA}"/>
              </c:ext>
            </c:extLst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F0-45E6-9959-90001AC576FA}"/>
              </c:ext>
            </c:extLst>
          </c:dPt>
          <c:dPt>
            <c:idx val="3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F0-45E6-9959-90001AC576FA}"/>
              </c:ext>
            </c:extLst>
          </c:dPt>
          <c:dPt>
            <c:idx val="4"/>
            <c:invertIfNegative val="0"/>
            <c:bubble3D val="0"/>
            <c:spPr>
              <a:solidFill>
                <a:srgbClr val="14BD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F0-45E6-9959-90001AC576FA}"/>
              </c:ext>
            </c:extLst>
          </c:dPt>
          <c:dPt>
            <c:idx val="5"/>
            <c:invertIfNegative val="0"/>
            <c:bubble3D val="0"/>
            <c:spPr>
              <a:solidFill>
                <a:srgbClr val="6B7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1F0-45E6-9959-90001AC576FA}"/>
              </c:ext>
            </c:extLst>
          </c:dPt>
          <c:dPt>
            <c:idx val="6"/>
            <c:invertIfNegative val="0"/>
            <c:bubble3D val="0"/>
            <c:spPr>
              <a:solidFill>
                <a:srgbClr val="99B8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1F0-45E6-9959-90001AC576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Nevi (nv)</c:v>
                </c:pt>
                <c:pt idx="1">
                  <c:v>Melanoma (mel)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6705</c:v>
                </c:pt>
                <c:pt idx="1">
                  <c:v>1113</c:v>
                </c:pt>
                <c:pt idx="2">
                  <c:v>1099</c:v>
                </c:pt>
                <c:pt idx="3">
                  <c:v>514</c:v>
                </c:pt>
                <c:pt idx="4">
                  <c:v>327</c:v>
                </c:pt>
                <c:pt idx="5">
                  <c:v>142</c:v>
                </c:pt>
                <c:pt idx="6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F0-45E6-9959-90001AC576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26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E6D2-7909-0952-887E-17A8E629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C8AAE-A215-65CA-BE97-C72A9C542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98A5B-7C47-5523-6ADB-6053B08D0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61E3D-DF3F-8F1E-74C5-EFA5A45DC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82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754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· Deep Learning Course Project · Academic Year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NC-MedAI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Collapse-Aware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Classification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2880360"/>
            <a:ext cx="4114800" cy="36576"/>
          </a:xfrm>
          <a:prstGeom prst="rect">
            <a:avLst/>
          </a:prstGeom>
          <a:solidFill>
            <a:srgbClr val="3A5F8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035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P Kulkarni, 01FE23BCI088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Amaanali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Doddamani, 01FE23BCI091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S H, 01FE23BCI005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V Om, 01FE23BCI055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2918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Uma Devi F 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(AI), KLE Technological University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47183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47183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Classes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47183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Head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47183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Method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069080" cy="34747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68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280160"/>
            <a:ext cx="376732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is severely imbalanced: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Melanocytic Nevi = 67% of all samples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deep learning models: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gradients dominate training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features compressed into narrow cones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false-negative rate for Melanoma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geometry never emerges naturally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40690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68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Neural Collapse?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280160"/>
            <a:ext cx="376732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Collapse (Papyan et al., 2020) predicts that optimal training produces class means as a Simplex ETF — maximally separated and symmetric.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metrics NC1–NC4 can diagnose: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geometry degradation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pathology before accuracy drops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Imbalance-induced collapse failure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hypothesis: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ETF geometry directly via a fixed classifier head will improve minority-class recall without sacrificing overall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HAM10000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3017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2743200" cy="42976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5331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01952" y="1353312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2743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5623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01952" y="1856232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2743200" cy="42976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5915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01952" y="2359152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2743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6207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01952" y="2862072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2743200" cy="42976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6499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01952" y="3364992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67912"/>
            <a:ext cx="2743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867912"/>
            <a:ext cx="1371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01952" y="3867912"/>
            <a:ext cx="1234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Dermatoscopy</a:t>
            </a:r>
            <a:endParaRPr lang="en-US" sz="13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11880" y="868680"/>
          <a:ext cx="52120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4767189"/>
            <a:ext cx="8503920" cy="292608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02920" y="4723931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Class imbalance ratio ≈ 67:1 (Nevi vs Dermatofibroma). Standard training fails minority classes — this is the core challenge.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572768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572768"/>
            <a:ext cx="1280160" cy="29260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572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" y="18836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10,015 images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36192" y="2112264"/>
            <a:ext cx="54864" cy="0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91056" y="1572768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91056" y="1572768"/>
            <a:ext cx="1280160" cy="2926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1591056" y="1572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91056" y="18836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91056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· Normalize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· Sampler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71216" y="2112264"/>
            <a:ext cx="54864" cy="0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1572768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0" y="1572768"/>
            <a:ext cx="128016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1572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18836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26080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features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112264"/>
            <a:ext cx="54864" cy="0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1104" y="1572768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61104" y="1572768"/>
            <a:ext cx="1280160" cy="292608"/>
          </a:xfrm>
          <a:prstGeom prst="rect">
            <a:avLst/>
          </a:prstGeom>
          <a:solidFill>
            <a:srgbClr val="E05C44"/>
          </a:solidFill>
          <a:ln/>
        </p:spPr>
      </p:sp>
      <p:sp>
        <p:nvSpPr>
          <p:cNvPr id="25" name="Text 23"/>
          <p:cNvSpPr/>
          <p:nvPr/>
        </p:nvSpPr>
        <p:spPr>
          <a:xfrm>
            <a:off x="4261104" y="1572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61104" y="18836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ETF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261104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Non-learnable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separation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41264" y="2112264"/>
            <a:ext cx="54864" cy="0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96128" y="1572768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96128" y="1572768"/>
            <a:ext cx="1280160" cy="2926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5596128" y="1572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96128" y="18836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Loss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96128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L_collapse + L_align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76288" y="2112264"/>
            <a:ext cx="54864" cy="0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31152" y="1572768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31152" y="1572768"/>
            <a:ext cx="1280160" cy="2926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931152" y="15727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31152" y="18836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NC1–NC4 + F1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31152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3017520"/>
            <a:ext cx="8631936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182112"/>
            <a:ext cx="40690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182112"/>
            <a:ext cx="109728" cy="1719072"/>
          </a:xfrm>
          <a:prstGeom prst="rect">
            <a:avLst/>
          </a:prstGeom>
          <a:solidFill>
            <a:srgbClr val="E05C44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21868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ETF Classifier Head — Core Innovation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354787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learnable linear layer with a </a:t>
            </a:r>
            <a:r>
              <a:rPr lang="en-US" sz="11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Equiangular Tight Frame (ETF)</a:t>
            </a:r>
            <a:r>
              <a:rPr lang="en-US" sz="11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matrix. ETF vectors are maximally equidistant regardless of class frequency, preventing majority-class dominance in feature space.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4366260"/>
            <a:ext cx="3703320" cy="425196"/>
          </a:xfrm>
          <a:prstGeom prst="rect">
            <a:avLst/>
          </a:prstGeom>
          <a:solidFill>
            <a:srgbClr val="EAF2FB"/>
          </a:solidFill>
          <a:ln>
            <a:solidFill>
              <a:srgbClr val="D0DC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W_ETF  =  √(C/C−1) · (I − 1/C · 11ᵀ) · Uᵀ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54880" y="3182112"/>
            <a:ext cx="40690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182112"/>
            <a:ext cx="109728" cy="171907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321868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Regularization Losses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83480" y="354787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L_collapse:</a:t>
            </a:r>
            <a:r>
              <a:rPr lang="en-US" sz="11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MSE between each feature and its ETF centroid — forces within-class collapse.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L_align:</a:t>
            </a:r>
            <a:r>
              <a:rPr lang="en-US" sz="11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Cosine distance between class means and ETF targets — enforces inter-class geometry.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983480" y="4366260"/>
            <a:ext cx="3703320" cy="425195"/>
          </a:xfrm>
          <a:prstGeom prst="rect">
            <a:avLst/>
          </a:prstGeom>
          <a:solidFill>
            <a:srgbClr val="EAF2FB"/>
          </a:solidFill>
          <a:ln>
            <a:solidFill>
              <a:srgbClr val="D0DC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 =  L_CE  +  λ·L_collapse  +  λ·L_align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and Key Modules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164592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6968" y="1325880"/>
            <a:ext cx="0" cy="54864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8074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80744"/>
            <a:ext cx="164592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807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Loader + Imbalance Sampler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" y="1837944"/>
            <a:ext cx="0" cy="54864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92808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92808"/>
            <a:ext cx="164592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928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(Normalize · Augment · Split)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" y="2350008"/>
            <a:ext cx="0" cy="54864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04872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04872"/>
            <a:ext cx="164592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048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Backbone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 → Layer1–4 → AvgPool → 512-d)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" y="2862072"/>
            <a:ext cx="0" cy="54864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16936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16936"/>
            <a:ext cx="164592" cy="457200"/>
          </a:xfrm>
          <a:prstGeom prst="rect">
            <a:avLst/>
          </a:prstGeom>
          <a:solidFill>
            <a:srgbClr val="E05C4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169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 ETF / Linear)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6968" y="3374136"/>
            <a:ext cx="0" cy="54864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2900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29000"/>
            <a:ext cx="164592" cy="4572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Regularization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(L_collapse + L_align)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" y="3886200"/>
            <a:ext cx="0" cy="54864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941064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941064"/>
            <a:ext cx="164592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41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Metrics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(NC1 · NC2 · NC3 · NC4)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6968" y="4398264"/>
            <a:ext cx="0" cy="54864"/>
          </a:xfrm>
          <a:prstGeom prst="line">
            <a:avLst/>
          </a:prstGeom>
          <a:noFill/>
          <a:ln w="12700">
            <a:solidFill>
              <a:srgbClr val="99B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453128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453128"/>
            <a:ext cx="164592" cy="4572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453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Prediction + Metrics + Viz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71800" y="868680"/>
            <a:ext cx="5852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108960" y="9144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017520" y="1280160"/>
            <a:ext cx="5715000" cy="3383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90672" y="128016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config/config.yaml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59552" y="1280160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hyperparameter config with CLI override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17520" y="1655064"/>
            <a:ext cx="5715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90672" y="1655064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data/medical_datasets.py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59552" y="1655064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loader with imbalance ratio control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17520" y="2029968"/>
            <a:ext cx="5715000" cy="3383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0672" y="2029968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data/imbalance_sampler.py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59552" y="2029968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&amp; balanced sampling strategies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17520" y="2404872"/>
            <a:ext cx="5715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90672" y="2404872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models/resnet.py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559552" y="2404872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with penultimate feature hooks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17520" y="2779776"/>
            <a:ext cx="5715000" cy="3383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2779776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models/etf_classifier.py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559552" y="2779776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ETF head — core contribution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017520" y="3154680"/>
            <a:ext cx="5715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90672" y="3154680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training/trainer.py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559552" y="3154680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+ checkpointing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17520" y="3529584"/>
            <a:ext cx="5715000" cy="3383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90672" y="3529584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training/nc_regularization.py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59552" y="3529584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L_collapse and L_align loss terms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017520" y="3904488"/>
            <a:ext cx="5715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90672" y="3904488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evaluation/nc_metrics.py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559552" y="3904488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NC1–NC4 mathematical formulations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017520" y="4279392"/>
            <a:ext cx="5715000" cy="3383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90672" y="4279392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evaluation/medical_metrics.py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559552" y="4279392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· Specificity · AUC · Kappa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017520" y="4654296"/>
            <a:ext cx="5715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90672" y="4654296"/>
            <a:ext cx="2423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visualization/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59552" y="4654296"/>
            <a:ext cx="3108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· PCA · cosine heatmap · confusion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017520" y="519379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70" name="Shape 68"/>
          <p:cNvSpPr/>
          <p:nvPr/>
        </p:nvSpPr>
        <p:spPr>
          <a:xfrm>
            <a:off x="3017520" y="5193792"/>
            <a:ext cx="5715000" cy="274320"/>
          </a:xfrm>
          <a:prstGeom prst="rect">
            <a:avLst/>
          </a:prstGeom>
          <a:solidFill>
            <a:srgbClr val="0B254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9BC91-83F6-091E-2811-225F4F87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BC61E7-90DC-46ED-C484-834E582F0434}"/>
              </a:ext>
            </a:extLst>
          </p:cNvPr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DF18CF-8A54-B9BB-C5BE-76CF81417C74}"/>
              </a:ext>
            </a:extLst>
          </p:cNvPr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9A9049-5C2F-85B0-CA79-EFD50DB7C3B7}"/>
              </a:ext>
            </a:extLst>
          </p:cNvPr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1462527-F396-DC5D-A5C6-144060F0C893}"/>
              </a:ext>
            </a:extLst>
          </p:cNvPr>
          <p:cNvSpPr/>
          <p:nvPr/>
        </p:nvSpPr>
        <p:spPr>
          <a:xfrm>
            <a:off x="3017520" y="519379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95F29D9D-85A9-B88D-9CC0-E4A59AB76428}"/>
              </a:ext>
            </a:extLst>
          </p:cNvPr>
          <p:cNvSpPr/>
          <p:nvPr/>
        </p:nvSpPr>
        <p:spPr>
          <a:xfrm>
            <a:off x="3017520" y="5193792"/>
            <a:ext cx="5715000" cy="27432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2289D519-C97A-5B4A-016D-B019716EF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812"/>
            <a:ext cx="9144000" cy="4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3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Collapse: Theoretical Foundation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069080" cy="3657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686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 — Within-Class Variability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" y="130759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Intra-class feature variance collapses to zero. All samples of the same class converge to a single point in feature space.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406908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686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NC2 — ETF Convergence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9472" y="130759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mean vectors form a Simplex ETF — equidistant and maximally separated. Cosine similarity between any two class means = −1/(C−1).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89054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9054"/>
            <a:ext cx="4069080" cy="365760"/>
          </a:xfrm>
          <a:prstGeom prst="rect">
            <a:avLst/>
          </a:prstGeom>
          <a:solidFill>
            <a:srgbClr val="E05C44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88905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NC3 — Weight–Mean Alignment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" y="3327966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weight vectors align with their corresponding class mean vectors (self-duality). Network weights ∝ class means.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9054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9054"/>
            <a:ext cx="4069080" cy="3657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88905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NC4 — NCC Disagreement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9472" y="3327966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argmax prediction agrees with Nearest Class Center classifier. Measures geometric coherence of the decision boundary.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983480"/>
            <a:ext cx="8503920" cy="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320040" y="4809744"/>
            <a:ext cx="850392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0D73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" y="4809744"/>
            <a:ext cx="8229600" cy="333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Class imbalance prevents natural NC emergence. NC metrics serve as early-warning diagnostic tools — NC1=15.65 for Focal Loss reveals training failure before accuracy degrades.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326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06040" cy="33832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61872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10512" y="1261872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2606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36776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10512" y="1636776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2606040" cy="33832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011680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10512" y="201168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2606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86584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10512" y="238658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61488"/>
            <a:ext cx="2606040" cy="33832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6148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10512" y="276148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136392"/>
            <a:ext cx="2606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36392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10512" y="3136392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511296"/>
            <a:ext cx="2606040" cy="33832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511296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λ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10512" y="3511296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2606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886200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10512" y="388620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2.0+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61104"/>
            <a:ext cx="2606040" cy="338328"/>
          </a:xfrm>
          <a:prstGeom prst="rect">
            <a:avLst/>
          </a:prstGeom>
          <a:solidFill>
            <a:srgbClr val="EAF2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261104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10512" y="426110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636008"/>
            <a:ext cx="2606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63600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10512" y="463600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868680"/>
            <a:ext cx="2651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83280" y="9326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Methods Benchmarked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91840" y="1280160"/>
            <a:ext cx="109728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128016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(CE)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474720" y="150876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cross-entropy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1874520"/>
            <a:ext cx="109728" cy="5029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0" y="187452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474720" y="210312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+ balanced sampler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2468880"/>
            <a:ext cx="109728" cy="50292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0" y="24688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474720" y="269748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Class-frequency weights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91840" y="3063240"/>
            <a:ext cx="109728" cy="502920"/>
          </a:xfrm>
          <a:prstGeom prst="rect">
            <a:avLst/>
          </a:prstGeom>
          <a:solidFill>
            <a:srgbClr val="E05C44"/>
          </a:solidFill>
          <a:ln/>
        </p:spPr>
      </p:sp>
      <p:sp>
        <p:nvSpPr>
          <p:cNvPr id="49" name="Text 47"/>
          <p:cNvSpPr/>
          <p:nvPr/>
        </p:nvSpPr>
        <p:spPr>
          <a:xfrm>
            <a:off x="3474720" y="3063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(γ=2)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474720" y="329184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Hard-sample focus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91840" y="3657600"/>
            <a:ext cx="109728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2" name="Text 50"/>
          <p:cNvSpPr/>
          <p:nvPr/>
        </p:nvSpPr>
        <p:spPr>
          <a:xfrm>
            <a:off x="3474720" y="365760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+ NC-reg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474720" y="388620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ETF + Lreg ★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91840" y="4251960"/>
            <a:ext cx="109728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5" name="Text 53"/>
          <p:cNvSpPr/>
          <p:nvPr/>
        </p:nvSpPr>
        <p:spPr>
          <a:xfrm>
            <a:off x="3474720" y="425196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+ NC-reg + Bal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474720" y="448056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+ balanced ★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80760" y="868680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217920" y="9326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217920" y="128016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Classification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0" y="1554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17920" y="188366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(primary)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17920" y="22128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17920" y="25420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· Specificity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17920" y="287121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217920" y="3200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217920" y="356616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Collapse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217920" y="384048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 — within-class scatter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217920" y="411480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NC2 — ETF deviation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217920" y="438912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NC3 — weight-mean align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217920" y="466344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NC4 — NCC disagreement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Performance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458200" cy="18669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NC1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NC4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Mel. 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 (γ=2)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ETF+NC-reg+Balanced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C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ETF+NC-reg (BEST)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976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4297680"/>
            <a:ext cx="1965960" cy="91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370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</a:t>
            </a:r>
            <a:endParaRPr lang="en-US" sz="1800" dirty="0"/>
          </a:p>
        </p:txBody>
      </p:sp>
      <p:sp>
        <p:nvSpPr>
          <p:cNvPr id="5" name="Text 6"/>
          <p:cNvSpPr/>
          <p:nvPr/>
        </p:nvSpPr>
        <p:spPr>
          <a:xfrm>
            <a:off x="365760" y="46817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vs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42976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4297680"/>
            <a:ext cx="1965960" cy="914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2514600" y="4370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14600" y="46817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NC4 Best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(ETF+NC-reg)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42976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4297680"/>
            <a:ext cx="1965960" cy="91440"/>
          </a:xfrm>
          <a:prstGeom prst="rect">
            <a:avLst/>
          </a:prstGeom>
          <a:solidFill>
            <a:srgbClr val="E05C44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4370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0.0%→58.8%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63440" y="46817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Recall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Focal Loss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12280" y="429768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12280" y="4297680"/>
            <a:ext cx="1965960" cy="914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0" name="Text 17"/>
          <p:cNvSpPr/>
          <p:nvPr/>
        </p:nvSpPr>
        <p:spPr>
          <a:xfrm>
            <a:off x="6812280" y="43708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15.65→5.53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12280" y="46817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 reduction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Focal→ETF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Macro F1 &amp; Melanoma Recall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4251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914400"/>
            <a:ext cx="411480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41248"/>
            <a:ext cx="4251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82312" y="914400"/>
            <a:ext cx="4114800" cy="3703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6525" y="4764024"/>
            <a:ext cx="859536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03685" y="4786884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ETF+NC-reg achieves highest Macro F1 (0.472) and ties the best Melanoma Recall (58.8%) while Focal Loss catastrophically fails — 0.0% Melanoma Recall and lowest Macro F1 (0.110).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Neural Collapse Metrics (NC1 &amp; NC4)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4251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914400"/>
            <a:ext cx="411480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41248"/>
            <a:ext cx="4251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82312" y="914400"/>
            <a:ext cx="4114800" cy="3703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" y="4743637"/>
            <a:ext cx="425196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4743637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NC1: Focal Loss = 15.65 (3× worse than ETF). Imbalance destroys within-class geometry.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09160" y="4744836"/>
            <a:ext cx="425196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0D73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828032" y="474483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NC4: ETF+NC-reg Balanced achieves best score (0.180) — most geometrically coherent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Critical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26974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269748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412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Enforces Optimal Geometry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ETF head mathematically prevents majority-class dominance in feature space, improving Macro F1 by +8.3% and Melanoma Recall by +2.8% over the baseline.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841248"/>
            <a:ext cx="26974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841248"/>
            <a:ext cx="2697480" cy="384048"/>
          </a:xfrm>
          <a:prstGeom prst="rect">
            <a:avLst/>
          </a:prstGeom>
          <a:solidFill>
            <a:srgbClr val="E05C44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8412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Catastrophically Fails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1280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popular for imbalanced data, Focal Loss achieves 0% Melanoma Recall, NC1=15.65 and NC4=0.690 — the worst scores across all metrics. NC metrics diagnosed this failure early.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841248"/>
            <a:ext cx="26974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841248"/>
            <a:ext cx="2697480" cy="38404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071616" y="8412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Metrics = Clinical Safety Signal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63056" y="12801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NC1 and NC4 degradation directly correlates with minority-class recall. Teams can use NC metrics as a monitoring tool to prevent dangerous under-detection of malignancies.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93008"/>
            <a:ext cx="8503920" cy="1481328"/>
          </a:xfrm>
          <a:prstGeom prst="rect">
            <a:avLst/>
          </a:prstGeom>
          <a:solidFill>
            <a:srgbClr val="F0FAF7"/>
          </a:solidFill>
          <a:ln w="12700">
            <a:solidFill>
              <a:srgbClr val="0D73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93008"/>
            <a:ext cx="137160" cy="14813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Takeaway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858768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Geometry-aware training (Fixed ETF + NC Regularization) is not just theoretically elegant — it is practically superior in safety-critical medical imaging where minority-class recall directly impacts patient outcomes. Class imbalance degrades Neural Collapse geometry in measurable, predictable ways, and enforcing the ideal ETF structure is an effective countermeasure.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28016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713232"/>
            <a:ext cx="7040880" cy="50292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0690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4069080" cy="34747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412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Achieved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Analysis on Medical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demonstration that class imbalance degrades NC1–NC4 in clinical settings.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176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ETF Classifier Head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enforces optimal ETF geometry, outperforming all baselines on Macro F1.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072384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Regularization Losses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364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L_collapse + L_align provide principled training signal toward ideal feature geometry.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968496"/>
            <a:ext cx="274320" cy="274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68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Warning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26110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Focal Loss catastrophically fails on HAM10000 — NC metrics caught 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841248"/>
            <a:ext cx="40690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8412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307592"/>
            <a:ext cx="91440" cy="4114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28016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51790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2020 (33K images), TCGA pathology, multi-center studies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1856232"/>
            <a:ext cx="91440" cy="4114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82880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06654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NC in ViT, Swin Transformer, CNN-Transformer hybrids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404872"/>
            <a:ext cx="91440" cy="4114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37744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ETF Scheduling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61518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 to phase in ETF constraint gradually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2953512"/>
            <a:ext cx="91440" cy="4114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92608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316382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DICOM-compatible decision-support system for dermatologists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3502152"/>
            <a:ext cx="91440" cy="4114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47472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Mobile/Edge AI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371246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+ lightweight ETF for smartphone screening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4050792"/>
            <a:ext cx="91440" cy="4114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402336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426110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+ SHAP + LIME combined with NC geometry analysis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5029200" cy="0"/>
          </a:xfrm>
          <a:prstGeom prst="line">
            <a:avLst/>
          </a:prstGeom>
          <a:noFill/>
          <a:ln w="12700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980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P Kulkarni · Amaanali Doddamani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S H · B V 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Uma Devi F 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·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Papyan et al. (2020) — Neural Collapse. PNAS.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6334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et al. (2022) — NC under MSE Loss. ICLR.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07238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Tschandl et al. (2018) — HAM10000. Sci. Data.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51129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et al. (2016) — ResNet. CVPR.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95020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Kingma &amp; Ba (2015) — Adam. ICLR.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3891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&amp; Steinerberger (2024) — NC in Transfer Learning. NeurIPS.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1513</Words>
  <Application>Microsoft Office PowerPoint</Application>
  <PresentationFormat>On-screen Show (16:9)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NC-MedAI: Neural Collapse-Aware Medical Image Classification</dc:title>
  <dc:subject>PptxGenJS Presentation</dc:subject>
  <dc:creator>PptxGenJS</dc:creator>
  <cp:lastModifiedBy>Rishi Prashant kulkarni</cp:lastModifiedBy>
  <cp:revision>2</cp:revision>
  <dcterms:created xsi:type="dcterms:W3CDTF">2026-06-01T17:32:50Z</dcterms:created>
  <dcterms:modified xsi:type="dcterms:W3CDTF">2026-06-01T17:43:01Z</dcterms:modified>
</cp:coreProperties>
</file>